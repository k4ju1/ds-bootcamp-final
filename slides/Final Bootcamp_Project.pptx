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XFZ8JOfCkvpbNU8UAGnKi55U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User-uploaded notebook: /mnt/data/bootcamp_project.ipynb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User-uploaded FRED CSV files in /mnt/data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User-uploaded notebook and CSV files in /mnt/data</a:t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Plot recreated from user-uploaded CSV files in /mnt/data</a:t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980fa7907_0_33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980fa7907_0_3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[Sources]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Missing-value results from user-uploaded notebook and CSV files</a:t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80fa7907_0_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980fa7907_0_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980fa7907_0_2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980fa7907_0_2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980fa7907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980fa7907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4309a461_0_11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a4309a461_0_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6F7FB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274D"/>
          </a:solidFill>
          <a:ln cap="flat" cmpd="sng" w="12700">
            <a:solidFill>
              <a:srgbClr val="0D2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2"/>
          <p:cNvSpPr/>
          <p:nvPr/>
        </p:nvSpPr>
        <p:spPr>
          <a:xfrm>
            <a:off x="502920" y="164592"/>
            <a:ext cx="4846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Finance &amp; Economics Time-Series Analysis</a:t>
            </a:r>
            <a:endParaRPr b="0" i="0" sz="9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10;p12"/>
          <p:cNvCxnSpPr/>
          <p:nvPr/>
        </p:nvCxnSpPr>
        <p:spPr>
          <a:xfrm>
            <a:off x="502920" y="6419088"/>
            <a:ext cx="11183112" cy="0"/>
          </a:xfrm>
          <a:prstGeom prst="straightConnector1">
            <a:avLst/>
          </a:prstGeom>
          <a:noFill/>
          <a:ln cap="flat" cmpd="sng" w="12700">
            <a:solidFill>
              <a:srgbClr val="D5DAE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idx="12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  <a:defRPr b="0" i="0" sz="850" u="none" cap="none" strike="noStrike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k4ju1/DS-Bootcamp-Fin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74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15342" y="256032"/>
            <a:ext cx="12191700" cy="6858000"/>
          </a:xfrm>
          <a:prstGeom prst="rect">
            <a:avLst/>
          </a:prstGeom>
          <a:solidFill>
            <a:srgbClr val="0D274D"/>
          </a:solidFill>
          <a:ln cap="flat" cmpd="sng" w="12700">
            <a:solidFill>
              <a:srgbClr val="0D2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58368" y="914400"/>
            <a:ext cx="5760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Finance &amp; Economics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Time-Series Analysis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94944" y="2212848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3F5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9E3F5"/>
                </a:solidFill>
                <a:latin typeface="Arial"/>
                <a:ea typeface="Arial"/>
                <a:cs typeface="Arial"/>
                <a:sym typeface="Arial"/>
              </a:rPr>
              <a:t>Data Science Bootcamp Project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76656" y="2761488"/>
            <a:ext cx="5394960" cy="1170432"/>
          </a:xfrm>
          <a:prstGeom prst="roundRect">
            <a:avLst>
              <a:gd fmla="val 6250" name="adj"/>
            </a:avLst>
          </a:prstGeom>
          <a:solidFill>
            <a:srgbClr val="17345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14400" y="2948940"/>
            <a:ext cx="1572768" cy="100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14400" y="3273552"/>
            <a:ext cx="4663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F2FB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EDF2FB"/>
                </a:solidFill>
                <a:latin typeface="Arial"/>
                <a:ea typeface="Arial"/>
                <a:cs typeface="Arial"/>
                <a:sym typeface="Arial"/>
              </a:rPr>
              <a:t>Analyze historical financial and economic indicators (2000–2008) to identify trends, relationships, and predictive patterns using time-series analysis.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4370832"/>
            <a:ext cx="1737360" cy="329184"/>
          </a:xfrm>
          <a:prstGeom prst="rect">
            <a:avLst/>
          </a:prstGeom>
          <a:solidFill>
            <a:srgbClr val="2C9B8F"/>
          </a:solidFill>
          <a:ln cap="flat" cmpd="sng" w="9525">
            <a:solidFill>
              <a:srgbClr val="2C9B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Economic indicators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651760" y="4370832"/>
            <a:ext cx="2057400" cy="329184"/>
          </a:xfrm>
          <a:prstGeom prst="rect">
            <a:avLst/>
          </a:prstGeom>
          <a:solidFill>
            <a:srgbClr val="3A70B8"/>
          </a:solidFill>
          <a:ln cap="flat" cmpd="sng" w="9525">
            <a:solidFill>
              <a:srgbClr val="3A70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behavior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773168" y="4370832"/>
            <a:ext cx="1627632" cy="329184"/>
          </a:xfrm>
          <a:prstGeom prst="rect">
            <a:avLst/>
          </a:prstGeom>
          <a:solidFill>
            <a:srgbClr val="D89B2B"/>
          </a:solidFill>
          <a:ln cap="flat" cmpd="sng" w="9525">
            <a:solidFill>
              <a:srgbClr val="D89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Future trends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64835" y="993957"/>
            <a:ext cx="4892100" cy="5257800"/>
          </a:xfrm>
          <a:prstGeom prst="roundRect">
            <a:avLst>
              <a:gd fmla="val 1495" name="adj"/>
            </a:avLst>
          </a:prstGeom>
          <a:solidFill>
            <a:srgbClr val="F9FB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nance_midterm_assets/exploration_panel.png"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0" y="1396727"/>
            <a:ext cx="4343400" cy="215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6903720" y="4069080"/>
            <a:ext cx="1280160" cy="822960"/>
          </a:xfrm>
          <a:prstGeom prst="roundRect">
            <a:avLst>
              <a:gd fmla="val 8889" name="adj"/>
            </a:avLst>
          </a:prstGeom>
          <a:solidFill>
            <a:srgbClr val="EEF4FB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903720" y="41788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995160" y="448970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monthly series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366760" y="4069080"/>
            <a:ext cx="1280160" cy="822960"/>
          </a:xfrm>
          <a:prstGeom prst="roundRect">
            <a:avLst>
              <a:gd fmla="val 8889" name="adj"/>
            </a:avLst>
          </a:prstGeom>
          <a:solidFill>
            <a:srgbClr val="F5FAF9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366760" y="41788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9B8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C9B8F"/>
                </a:solidFill>
                <a:latin typeface="Arial"/>
                <a:ea typeface="Arial"/>
                <a:cs typeface="Arial"/>
                <a:sym typeface="Arial"/>
              </a:rPr>
              <a:t>108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458200" y="448970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monthly rows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829800" y="4069080"/>
            <a:ext cx="1280160" cy="822960"/>
          </a:xfrm>
          <a:prstGeom prst="roundRect">
            <a:avLst>
              <a:gd fmla="val 8889" name="adj"/>
            </a:avLst>
          </a:prstGeom>
          <a:solidFill>
            <a:srgbClr val="FFF8EC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9829800" y="417880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9B2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89B2B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9921240" y="4489704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raw missing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903720" y="519379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20"/>
              <a:buFont typeface="Arial"/>
              <a:buNone/>
            </a:pPr>
            <a:r>
              <a:t/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713232" y="1508760"/>
            <a:ext cx="10972800" cy="452628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960120" y="1828800"/>
            <a:ext cx="420624" cy="420624"/>
          </a:xfrm>
          <a:prstGeom prst="ellipse">
            <a:avLst/>
          </a:prstGeom>
          <a:solidFill>
            <a:srgbClr val="EEF4FB"/>
          </a:solidFill>
          <a:ln cap="flat" cmpd="sng" w="12700">
            <a:solidFill>
              <a:srgbClr val="EE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960120" y="190195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572768" y="185623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Background and dataset information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960120" y="2560320"/>
            <a:ext cx="420624" cy="420624"/>
          </a:xfrm>
          <a:prstGeom prst="ellipse">
            <a:avLst/>
          </a:prstGeom>
          <a:solidFill>
            <a:srgbClr val="EEF4FB"/>
          </a:solidFill>
          <a:ln cap="flat" cmpd="sng" w="12700">
            <a:solidFill>
              <a:srgbClr val="EE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960120" y="263347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1572768" y="258775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Use SQL to import data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60120" y="3291840"/>
            <a:ext cx="420624" cy="420624"/>
          </a:xfrm>
          <a:prstGeom prst="ellipse">
            <a:avLst/>
          </a:prstGeom>
          <a:solidFill>
            <a:srgbClr val="EEF4FB"/>
          </a:solidFill>
          <a:ln cap="flat" cmpd="sng" w="12700">
            <a:solidFill>
              <a:srgbClr val="EEF4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60120" y="336499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572768" y="331927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Implement AR, MA, ARMA, and ARIMA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960120" y="4023360"/>
            <a:ext cx="420624" cy="420624"/>
          </a:xfrm>
          <a:prstGeom prst="ellipse">
            <a:avLst/>
          </a:prstGeom>
          <a:solidFill>
            <a:srgbClr val="F5FAF9"/>
          </a:solidFill>
          <a:ln cap="flat" cmpd="sng" w="12700">
            <a:solidFill>
              <a:srgbClr val="F5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960120" y="409651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9B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C9B8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1572768" y="405079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Analyze results by MAE, RMSE, MAPE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960120" y="4754880"/>
            <a:ext cx="420624" cy="420624"/>
          </a:xfrm>
          <a:prstGeom prst="ellipse">
            <a:avLst/>
          </a:prstGeom>
          <a:solidFill>
            <a:srgbClr val="F5FAF9"/>
          </a:solidFill>
          <a:ln cap="flat" cmpd="sng" w="12700">
            <a:solidFill>
              <a:srgbClr val="F5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60120" y="4828032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9B8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C9B8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572768" y="4782312"/>
            <a:ext cx="9326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Future improvements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40080" y="1417320"/>
            <a:ext cx="580644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96112" y="1737360"/>
            <a:ext cx="48463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Financial markets and the global economy are deeply interconnected.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96112" y="2331720"/>
            <a:ext cx="4892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Key indicators such as GDP growth, inflation rates, interest rates, and stock market performance influence one another in complex ways.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896112" y="3200400"/>
            <a:ext cx="14275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Challenge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96112" y="356616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Understanding these relationships is difficult, but essential for policy, investing, and business decisions.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96112" y="437083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Goal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896112" y="4681728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Use data analysis and modeling to uncover patterns and support better decision-making.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6693408" y="1417320"/>
            <a:ext cx="4828032" cy="4663440"/>
          </a:xfrm>
          <a:prstGeom prst="roundRect">
            <a:avLst>
              <a:gd fmla="val 1569" name="adj"/>
            </a:avLst>
          </a:prstGeom>
          <a:solidFill>
            <a:srgbClr val="F9FBFE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995160" y="173736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Who benefits?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967728" y="2148840"/>
            <a:ext cx="4251960" cy="868680"/>
          </a:xfrm>
          <a:prstGeom prst="roundRect">
            <a:avLst>
              <a:gd fmla="val 8421" name="adj"/>
            </a:avLst>
          </a:prstGeom>
          <a:solidFill>
            <a:srgbClr val="EEF4FB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7242048" y="2395728"/>
            <a:ext cx="13258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70B8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3A70B8"/>
                </a:solidFill>
                <a:latin typeface="Arial"/>
                <a:ea typeface="Arial"/>
                <a:cs typeface="Arial"/>
                <a:sym typeface="Arial"/>
              </a:rPr>
              <a:t>Policymakers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8613648" y="234086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Monitor inflation, growth, and rate conditions.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967728" y="3182112"/>
            <a:ext cx="4251960" cy="868680"/>
          </a:xfrm>
          <a:prstGeom prst="roundRect">
            <a:avLst>
              <a:gd fmla="val 8421" name="adj"/>
            </a:avLst>
          </a:prstGeom>
          <a:solidFill>
            <a:srgbClr val="F5FAF9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242048" y="342900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9B8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C9B8F"/>
                </a:solidFill>
                <a:latin typeface="Arial"/>
                <a:ea typeface="Arial"/>
                <a:cs typeface="Arial"/>
                <a:sym typeface="Arial"/>
              </a:rPr>
              <a:t>Investors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8549640" y="336499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Track cycles, volatility, and market timing signals.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967728" y="4215384"/>
            <a:ext cx="4251960" cy="868680"/>
          </a:xfrm>
          <a:prstGeom prst="roundRect">
            <a:avLst>
              <a:gd fmla="val 8421" name="adj"/>
            </a:avLst>
          </a:prstGeom>
          <a:solidFill>
            <a:srgbClr val="FFF8EC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7242048" y="4462272"/>
            <a:ext cx="12344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9B2B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D89B2B"/>
                </a:solidFill>
                <a:latin typeface="Arial"/>
                <a:ea typeface="Arial"/>
                <a:cs typeface="Arial"/>
                <a:sym typeface="Arial"/>
              </a:rPr>
              <a:t>Businesses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8641080" y="4407408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Plan pricing, production, and financing decisions.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57292" y="1417320"/>
            <a:ext cx="4846320" cy="466344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32687" y="1499616"/>
            <a:ext cx="1412479" cy="476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81994" y="1985323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Finance &amp; Economics Time-Series Dataset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32687" y="2377440"/>
            <a:ext cx="19073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Time Period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011218" y="2671123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2000 – 2008</a:t>
            </a:r>
            <a:endParaRPr b="0" i="0" sz="16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32688" y="3063240"/>
            <a:ext cx="420624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GDP (kept separately as quarterly)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Inflation proxy: CPI and Inflation_YoY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Interest rates: FEDFUNDS and GS10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Economic indicators: UNRATE, INDPRO, WTI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Stock market index can be added later as an extension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932688" y="530352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Data Type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874520" y="5303520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Time-series data collected at regular intervals.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806440" y="1417320"/>
            <a:ext cx="5669280" cy="4663440"/>
          </a:xfrm>
          <a:prstGeom prst="roundRect">
            <a:avLst>
              <a:gd fmla="val 1569" name="adj"/>
            </a:avLst>
          </a:prstGeom>
          <a:solidFill>
            <a:srgbClr val="F9FBFE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finance_midterm_assets/audit_table.png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0" y="1976179"/>
            <a:ext cx="5166360" cy="1616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finance_midterm_assets/selected_summary_table.png" id="104" name="Google Shape;10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7915" y="3993876"/>
            <a:ext cx="5166359" cy="1584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</a:rPr>
              <a:t>SQL database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82076" l="0" r="0" t="0"/>
          <a:stretch/>
        </p:blipFill>
        <p:spPr>
          <a:xfrm>
            <a:off x="5562725" y="1273400"/>
            <a:ext cx="6804626" cy="1166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78162"/>
          <a:stretch/>
        </p:blipFill>
        <p:spPr>
          <a:xfrm>
            <a:off x="5481625" y="2439425"/>
            <a:ext cx="6885725" cy="136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 txBox="1"/>
          <p:nvPr/>
        </p:nvSpPr>
        <p:spPr>
          <a:xfrm>
            <a:off x="352850" y="1426825"/>
            <a:ext cx="4882500" cy="1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58750" lvl="0" marL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650"/>
              <a:buChar char="•"/>
            </a:pPr>
            <a:r>
              <a:rPr lang="en-US" sz="1650">
                <a:solidFill>
                  <a:schemeClr val="dk1"/>
                </a:solidFill>
              </a:rPr>
              <a:t>Created account in Supabase</a:t>
            </a:r>
            <a:endParaRPr sz="1650">
              <a:solidFill>
                <a:schemeClr val="dk1"/>
              </a:solidFill>
            </a:endParaRPr>
          </a:p>
          <a:p>
            <a:pPr indent="-158750" lvl="0" marL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•"/>
            </a:pPr>
            <a:r>
              <a:rPr lang="en-US" sz="1650">
                <a:solidFill>
                  <a:schemeClr val="dk1"/>
                </a:solidFill>
              </a:rPr>
              <a:t>Uploaded datasheet manually to Supabase</a:t>
            </a:r>
            <a:endParaRPr sz="1650">
              <a:solidFill>
                <a:schemeClr val="dk1"/>
              </a:solidFill>
            </a:endParaRPr>
          </a:p>
          <a:p>
            <a:pPr indent="-158750" lvl="0" marL="152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Char char="•"/>
            </a:pPr>
            <a:r>
              <a:rPr lang="en-US" sz="1650">
                <a:solidFill>
                  <a:schemeClr val="dk1"/>
                </a:solidFill>
              </a:rPr>
              <a:t>Fetch data and convert it to DataFrame in Python.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980fa7907_0_33"/>
          <p:cNvSpPr txBox="1"/>
          <p:nvPr/>
        </p:nvSpPr>
        <p:spPr>
          <a:xfrm>
            <a:off x="303050" y="681900"/>
            <a:ext cx="868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2937"/>
                </a:solidFill>
              </a:rPr>
              <a:t>Decomposition &amp; Stationarity</a:t>
            </a:r>
            <a:endParaRPr b="1" sz="3600">
              <a:solidFill>
                <a:srgbClr val="1E293B"/>
              </a:solidFill>
            </a:endParaRPr>
          </a:p>
        </p:txBody>
      </p:sp>
      <p:pic>
        <p:nvPicPr>
          <p:cNvPr id="121" name="Google Shape;121;g3d980fa7907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16500"/>
            <a:ext cx="11887198" cy="4661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Arial"/>
              <a:buNone/>
            </a:pPr>
            <a:r>
              <a:rPr b="1" lang="en-US" sz="2400">
                <a:solidFill>
                  <a:srgbClr val="1F2937"/>
                </a:solidFill>
              </a:rPr>
              <a:t>AR, MA, ARMA, and ARIMA models</a:t>
            </a:r>
            <a:endParaRPr b="1" i="0" sz="3000" u="none" cap="none" strike="noStrike">
              <a:solidFill>
                <a:schemeClr val="dk1"/>
              </a:solidFill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1417320"/>
            <a:ext cx="4846200" cy="466350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783565" y="1417320"/>
            <a:ext cx="5669400" cy="4663500"/>
          </a:xfrm>
          <a:prstGeom prst="roundRect">
            <a:avLst>
              <a:gd fmla="val 1569" name="adj"/>
            </a:avLst>
          </a:prstGeom>
          <a:solidFill>
            <a:srgbClr val="F9FBFE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108192" y="173736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172200" y="470916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Arial"/>
              <a:buNone/>
            </a:pPr>
            <a:r>
              <a:t/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172200" y="528523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20"/>
              <a:buFont typeface="Arial"/>
              <a:buNone/>
            </a:pPr>
            <a:r>
              <a:t/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425" y="1306625"/>
            <a:ext cx="11175140" cy="509892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d980fa7907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525" y="1909500"/>
            <a:ext cx="6006875" cy="381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d980fa7907_0_9"/>
          <p:cNvSpPr txBox="1"/>
          <p:nvPr/>
        </p:nvSpPr>
        <p:spPr>
          <a:xfrm>
            <a:off x="941700" y="14945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293B"/>
                </a:solidFill>
              </a:rPr>
              <a:t>MAPE — Lower is Better</a:t>
            </a:r>
            <a:endParaRPr b="1">
              <a:solidFill>
                <a:srgbClr val="1E293B"/>
              </a:solidFill>
            </a:endParaRPr>
          </a:p>
        </p:txBody>
      </p:sp>
      <p:pic>
        <p:nvPicPr>
          <p:cNvPr id="141" name="Google Shape;141;g3d980fa7907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7124" y="1379750"/>
            <a:ext cx="5478974" cy="501384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d980fa7907_0_9"/>
          <p:cNvSpPr txBox="1"/>
          <p:nvPr/>
        </p:nvSpPr>
        <p:spPr>
          <a:xfrm>
            <a:off x="573975" y="455750"/>
            <a:ext cx="721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D274D"/>
                </a:solidFill>
              </a:rPr>
              <a:t>Model Comparison</a:t>
            </a:r>
            <a:endParaRPr b="1" sz="360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d980fa7907_0_21"/>
          <p:cNvPicPr preferRelativeResize="0"/>
          <p:nvPr/>
        </p:nvPicPr>
        <p:blipFill rotWithShape="1">
          <a:blip r:embed="rId3">
            <a:alphaModFix/>
          </a:blip>
          <a:srcRect b="0" l="0" r="0" t="21489"/>
          <a:stretch/>
        </p:blipFill>
        <p:spPr>
          <a:xfrm>
            <a:off x="152400" y="1753475"/>
            <a:ext cx="11887201" cy="4741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d980fa7907_0_21"/>
          <p:cNvSpPr txBox="1"/>
          <p:nvPr/>
        </p:nvSpPr>
        <p:spPr>
          <a:xfrm>
            <a:off x="508725" y="855075"/>
            <a:ext cx="783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D274D"/>
                </a:solidFill>
              </a:rPr>
              <a:t>Best Model: ARIMA(1,1,1)</a:t>
            </a:r>
            <a:endParaRPr b="1" sz="2400">
              <a:solidFill>
                <a:srgbClr val="0D274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566928" y="530352"/>
            <a:ext cx="8138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274D"/>
                </a:solidFill>
                <a:latin typeface="Arial"/>
                <a:ea typeface="Arial"/>
                <a:cs typeface="Arial"/>
                <a:sym typeface="Arial"/>
              </a:rPr>
              <a:t>Key Takeaways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01050" y="1163050"/>
            <a:ext cx="11321700" cy="529260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66925" y="1443800"/>
            <a:ext cx="10762800" cy="46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300">
                <a:solidFill>
                  <a:srgbClr val="D89B2B"/>
                </a:solidFill>
              </a:rPr>
              <a:t>RESULTS</a:t>
            </a:r>
            <a:endParaRPr b="1" i="1" sz="2300">
              <a:solidFill>
                <a:srgbClr val="D89B2B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300"/>
              <a:buChar char="•"/>
            </a:pPr>
            <a:r>
              <a:rPr lang="en-US" sz="2300">
                <a:solidFill>
                  <a:schemeClr val="dk1"/>
                </a:solidFill>
              </a:rPr>
              <a:t>3,000-row dataset cleaned, feature-engineered, and loaded into SQLite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300"/>
              <a:buChar char="•"/>
            </a:pPr>
            <a:r>
              <a:rPr lang="en-US" sz="2300">
                <a:solidFill>
                  <a:schemeClr val="dk1"/>
                </a:solidFill>
              </a:rPr>
              <a:t>4 SQL queries extracted cross-sectional and temporal economic insights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>
                <a:solidFill>
                  <a:schemeClr val="dk1"/>
                </a:solidFill>
              </a:rPr>
              <a:t>S&amp;P 500 monthly series is non-stationary; 1st differencing resolves this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300"/>
              <a:buChar char="•"/>
            </a:pPr>
            <a:r>
              <a:rPr b="1" lang="en-US" sz="2300">
                <a:solidFill>
                  <a:schemeClr val="accent6"/>
                </a:solidFill>
              </a:rPr>
              <a:t>  ARIMA(1,1,1) achieves best MAPE — d=1 differencing properly removes the non-stationary trend in S&amp;P 500 close prices</a:t>
            </a:r>
            <a:endParaRPr b="1" sz="2300">
              <a:solidFill>
                <a:schemeClr val="accent6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</a:pPr>
            <a:r>
              <a:rPr lang="en-US" sz="2300">
                <a:solidFill>
                  <a:schemeClr val="dk1"/>
                </a:solidFill>
              </a:rPr>
              <a:t>All 4 models (AR, MA, ARMA, ARIMA) outperform the Naive baseline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</a:endParaRPr>
          </a:p>
        </p:txBody>
      </p:sp>
      <p:sp>
        <p:nvSpPr>
          <p:cNvPr id="157" name="Google Shape;157;p10"/>
          <p:cNvSpPr txBox="1"/>
          <p:nvPr>
            <p:ph idx="4294967295" type="sldNum"/>
          </p:nvPr>
        </p:nvSpPr>
        <p:spPr>
          <a:xfrm>
            <a:off x="11539728" y="6455664"/>
            <a:ext cx="1828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"/>
              <a:buNone/>
            </a:pPr>
            <a:fld id="{00000000-1234-1234-1234-123412341234}" type="slidenum">
              <a:rPr b="0" lang="en-US" sz="850">
                <a:solidFill>
                  <a:srgbClr val="7A808B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50">
              <a:solidFill>
                <a:srgbClr val="7A80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980fa7907_0_0"/>
          <p:cNvSpPr/>
          <p:nvPr/>
        </p:nvSpPr>
        <p:spPr>
          <a:xfrm>
            <a:off x="566928" y="530352"/>
            <a:ext cx="8138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74D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D274D"/>
                </a:solidFill>
              </a:rPr>
              <a:t>Future Improvements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980fa7907_0_0"/>
          <p:cNvSpPr/>
          <p:nvPr/>
        </p:nvSpPr>
        <p:spPr>
          <a:xfrm>
            <a:off x="366150" y="1437400"/>
            <a:ext cx="11459700" cy="4663500"/>
          </a:xfrm>
          <a:prstGeom prst="roundRect">
            <a:avLst>
              <a:gd fmla="val 1569" name="adj"/>
            </a:avLst>
          </a:prstGeom>
          <a:solidFill>
            <a:srgbClr val="FFFFFF"/>
          </a:solidFill>
          <a:ln cap="flat" cmpd="sng" w="12700">
            <a:solidFill>
              <a:srgbClr val="D9DF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2540">
              <a:srgbClr val="000000">
                <a:alpha val="102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980fa7907_0_0"/>
          <p:cNvSpPr txBox="1"/>
          <p:nvPr/>
        </p:nvSpPr>
        <p:spPr>
          <a:xfrm>
            <a:off x="601950" y="1724550"/>
            <a:ext cx="1072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</a:rPr>
              <a:t>VAR Model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Model all 6 indicators simultaneously to capture cross-series dependencies.</a:t>
            </a:r>
            <a:endParaRPr b="1" sz="2000"/>
          </a:p>
        </p:txBody>
      </p:sp>
      <p:sp>
        <p:nvSpPr>
          <p:cNvPr id="165" name="Google Shape;165;g3d980fa7907_0_0"/>
          <p:cNvSpPr txBox="1"/>
          <p:nvPr/>
        </p:nvSpPr>
        <p:spPr>
          <a:xfrm>
            <a:off x="601950" y="2793750"/>
            <a:ext cx="1072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</a:rPr>
              <a:t>LSTM/GRU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Deep learning for non-linear, long-range </a:t>
            </a:r>
            <a:r>
              <a:rPr b="1" lang="en-US" sz="2000"/>
              <a:t>sequential</a:t>
            </a:r>
            <a:r>
              <a:rPr b="1" lang="en-US" sz="2000"/>
              <a:t> patterns</a:t>
            </a:r>
            <a:endParaRPr b="1" sz="2000"/>
          </a:p>
        </p:txBody>
      </p:sp>
      <p:sp>
        <p:nvSpPr>
          <p:cNvPr id="166" name="Google Shape;166;g3d980fa7907_0_0"/>
          <p:cNvSpPr txBox="1"/>
          <p:nvPr/>
        </p:nvSpPr>
        <p:spPr>
          <a:xfrm>
            <a:off x="601950" y="3862938"/>
            <a:ext cx="1072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</a:rPr>
              <a:t>SARIMA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Extend ARIMA to explicitly model seasonality (seasonal d, P, D, Q)</a:t>
            </a:r>
            <a:endParaRPr b="1" sz="2000"/>
          </a:p>
        </p:txBody>
      </p:sp>
      <p:sp>
        <p:nvSpPr>
          <p:cNvPr id="167" name="Google Shape;167;g3d980fa7907_0_0"/>
          <p:cNvSpPr txBox="1"/>
          <p:nvPr/>
        </p:nvSpPr>
        <p:spPr>
          <a:xfrm>
            <a:off x="601950" y="5059863"/>
            <a:ext cx="1072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accent1"/>
                </a:solidFill>
              </a:rPr>
              <a:t>Interactive Dashboard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Streamlit or Plotly Dash - filter by index, indicator, and forecast horizon.</a:t>
            </a:r>
            <a:endParaRPr b="1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a4309a461_0_11"/>
          <p:cNvSpPr txBox="1"/>
          <p:nvPr/>
        </p:nvSpPr>
        <p:spPr>
          <a:xfrm>
            <a:off x="4099650" y="2967300"/>
            <a:ext cx="3992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</a:rPr>
              <a:t>Thank You! </a:t>
            </a:r>
            <a:endParaRPr sz="4800"/>
          </a:p>
        </p:txBody>
      </p:sp>
      <p:sp>
        <p:nvSpPr>
          <p:cNvPr id="173" name="Google Shape;173;g39a4309a461_0_11"/>
          <p:cNvSpPr txBox="1"/>
          <p:nvPr/>
        </p:nvSpPr>
        <p:spPr>
          <a:xfrm>
            <a:off x="427550" y="5996750"/>
            <a:ext cx="10699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GitHub Link: </a:t>
            </a:r>
            <a:r>
              <a:rPr lang="en-US" sz="1700" u="sng">
                <a:solidFill>
                  <a:schemeClr val="hlink"/>
                </a:solidFill>
                <a:hlinkClick r:id="rId3"/>
              </a:rPr>
              <a:t>k4ju1/DS-Bootcamp-Final: DS Bootcamp Final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2026-03-30T16:22:00Z</dcterms:created>
  <dc:creator>OpenAI</dc:creator>
</cp:coreProperties>
</file>