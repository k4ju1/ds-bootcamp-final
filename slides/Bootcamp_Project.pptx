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uAiBf1z5s0N8Xt5rBrufh+Rnj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User-uploaded notebook: /mnt/data/bootcamp_project.ipynb</a:t>
            </a:r>
            <a:b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User-uploaded FRED CSV files in /mnt/data</a:t>
            </a:r>
            <a:endParaRPr/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User-uploaded notebook and CSV files in /mnt/data</a:t>
            </a:r>
            <a:endParaRPr/>
          </a:p>
        </p:txBody>
      </p:sp>
      <p:sp>
        <p:nvSpPr>
          <p:cNvPr id="92" name="Google Shape;9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Plot recreated from user-uploaded CSV files in /mnt/data</a:t>
            </a:r>
            <a:endParaRPr/>
          </a:p>
        </p:txBody>
      </p:sp>
      <p:sp>
        <p:nvSpPr>
          <p:cNvPr id="110" name="Google Shape;11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Missing-value results from user-uploaded notebook and CSV files</a:t>
            </a:r>
            <a:endParaRPr/>
          </a:p>
        </p:txBody>
      </p:sp>
      <p:sp>
        <p:nvSpPr>
          <p:cNvPr id="126" name="Google Shape;12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Missing-value results from user-uploaded notebook and CSV files</a:t>
            </a:r>
            <a:endParaRPr/>
          </a:p>
        </p:txBody>
      </p:sp>
      <p:sp>
        <p:nvSpPr>
          <p:cNvPr id="169" name="Google Shape;16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Frequency chart recreated from user-uploaded CSV files</a:t>
            </a:r>
            <a:endParaRPr/>
          </a:p>
        </p:txBody>
      </p:sp>
      <p:sp>
        <p:nvSpPr>
          <p:cNvPr id="185" name="Google Shape;185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Correlation heatmap recreated from user-uploaded CSV files</a:t>
            </a:r>
            <a:endParaRPr/>
          </a:p>
        </p:txBody>
      </p:sp>
      <p:sp>
        <p:nvSpPr>
          <p:cNvPr id="203" name="Google Shape;203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6F7FB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D274D"/>
          </a:solidFill>
          <a:ln cap="flat" cmpd="sng" w="12700">
            <a:solidFill>
              <a:srgbClr val="0D2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12"/>
          <p:cNvSpPr/>
          <p:nvPr/>
        </p:nvSpPr>
        <p:spPr>
          <a:xfrm>
            <a:off x="502920" y="164592"/>
            <a:ext cx="4846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Finance &amp; Economics Time-Series Analysis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" name="Google Shape;10;p12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5DA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12"/>
          <p:cNvSpPr txBox="1"/>
          <p:nvPr>
            <p:ph idx="12" type="sldNum"/>
          </p:nvPr>
        </p:nvSpPr>
        <p:spPr>
          <a:xfrm>
            <a:off x="11539728" y="6455664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50" u="none" cap="none" strike="noStrike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850" u="none" cap="none" strike="noStrike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850" u="none" cap="none" strike="noStrike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850" u="none" cap="none" strike="noStrike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850" u="none" cap="none" strike="noStrike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850" u="none" cap="none" strike="noStrike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850" u="none" cap="none" strike="noStrike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850" u="none" cap="none" strike="noStrike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850" u="none" cap="none" strike="noStrike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idx="12" type="sldNum"/>
          </p:nvPr>
        </p:nvSpPr>
        <p:spPr>
          <a:xfrm>
            <a:off x="11539728" y="6455664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50" u="none" cap="none" strike="noStrike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50" u="none" cap="none" strike="noStrike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50" u="none" cap="none" strike="noStrike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50" u="none" cap="none" strike="noStrike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50" u="none" cap="none" strike="noStrike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50" u="none" cap="none" strike="noStrike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50" u="none" cap="none" strike="noStrike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50" u="none" cap="none" strike="noStrike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50" u="none" cap="none" strike="noStrike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74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"/>
          <p:cNvSpPr/>
          <p:nvPr/>
        </p:nvSpPr>
        <p:spPr>
          <a:xfrm>
            <a:off x="0" y="256032"/>
            <a:ext cx="12191695" cy="6858000"/>
          </a:xfrm>
          <a:prstGeom prst="rect">
            <a:avLst/>
          </a:prstGeom>
          <a:solidFill>
            <a:srgbClr val="0D274D"/>
          </a:solidFill>
          <a:ln cap="flat" cmpd="sng" w="12700">
            <a:solidFill>
              <a:srgbClr val="0D2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58368" y="914400"/>
            <a:ext cx="57607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Finance &amp; Economics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Time-Series Analysis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94944" y="221284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3F5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D9E3F5"/>
                </a:solidFill>
                <a:latin typeface="Arial"/>
                <a:ea typeface="Arial"/>
                <a:cs typeface="Arial"/>
                <a:sym typeface="Arial"/>
              </a:rPr>
              <a:t>Data Science Bootcamp Project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76656" y="2761488"/>
            <a:ext cx="5394960" cy="1170432"/>
          </a:xfrm>
          <a:prstGeom prst="roundRect">
            <a:avLst>
              <a:gd fmla="val 6250" name="adj"/>
            </a:avLst>
          </a:prstGeom>
          <a:solidFill>
            <a:srgbClr val="17345F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914400" y="2948940"/>
            <a:ext cx="1572768" cy="1005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914400" y="3273552"/>
            <a:ext cx="4663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F2FB"/>
              </a:buClr>
              <a:buSzPts val="1420"/>
              <a:buFont typeface="Arial"/>
              <a:buNone/>
            </a:pPr>
            <a:r>
              <a:rPr lang="en-US" sz="1420">
                <a:solidFill>
                  <a:srgbClr val="EDF2FB"/>
                </a:solidFill>
                <a:latin typeface="Arial"/>
                <a:ea typeface="Arial"/>
                <a:cs typeface="Arial"/>
                <a:sym typeface="Arial"/>
              </a:rPr>
              <a:t>Analyze historical financial and economic indicators (2000–2008) to identify trends, relationships, and predictive patterns using time-series analysis.</a:t>
            </a:r>
            <a:endParaRPr sz="14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49808" y="4370832"/>
            <a:ext cx="1737360" cy="329184"/>
          </a:xfrm>
          <a:prstGeom prst="rect">
            <a:avLst/>
          </a:prstGeom>
          <a:solidFill>
            <a:srgbClr val="2C9B8F"/>
          </a:solidFill>
          <a:ln cap="flat" cmpd="sng" w="9525">
            <a:solidFill>
              <a:srgbClr val="2C9B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Economic indicators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2651760" y="4370832"/>
            <a:ext cx="2057400" cy="329184"/>
          </a:xfrm>
          <a:prstGeom prst="rect">
            <a:avLst/>
          </a:prstGeom>
          <a:solidFill>
            <a:srgbClr val="3A70B8"/>
          </a:solidFill>
          <a:ln cap="flat" cmpd="sng" w="9525">
            <a:solidFill>
              <a:srgbClr val="3A70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Market behavior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773168" y="4370832"/>
            <a:ext cx="1627632" cy="329184"/>
          </a:xfrm>
          <a:prstGeom prst="rect">
            <a:avLst/>
          </a:prstGeom>
          <a:solidFill>
            <a:srgbClr val="D89B2B"/>
          </a:solidFill>
          <a:ln cap="flat" cmpd="sng" w="9525">
            <a:solidFill>
              <a:srgbClr val="D89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D274D"/>
                </a:solidFill>
                <a:latin typeface="Arial"/>
                <a:ea typeface="Arial"/>
                <a:cs typeface="Arial"/>
                <a:sym typeface="Arial"/>
              </a:rPr>
              <a:t>Future trends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537960" y="960120"/>
            <a:ext cx="4892040" cy="5257800"/>
          </a:xfrm>
          <a:prstGeom prst="roundRect">
            <a:avLst>
              <a:gd fmla="val 1495" name="adj"/>
            </a:avLst>
          </a:prstGeom>
          <a:solidFill>
            <a:srgbClr val="F9FBFF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finance_midterm_assets/exploration_panel.png" id="28" name="Google Shape;2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2280" y="1396727"/>
            <a:ext cx="4343400" cy="2153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1"/>
          <p:cNvSpPr/>
          <p:nvPr/>
        </p:nvSpPr>
        <p:spPr>
          <a:xfrm>
            <a:off x="6903720" y="4069080"/>
            <a:ext cx="1280160" cy="822960"/>
          </a:xfrm>
          <a:prstGeom prst="roundRect">
            <a:avLst>
              <a:gd fmla="val 8889" name="adj"/>
            </a:avLst>
          </a:prstGeom>
          <a:solidFill>
            <a:srgbClr val="EEF4FB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6903720" y="417880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70B8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3A70B8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6995160" y="4489704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monthly series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8366760" y="4069080"/>
            <a:ext cx="1280160" cy="822960"/>
          </a:xfrm>
          <a:prstGeom prst="roundRect">
            <a:avLst>
              <a:gd fmla="val 8889" name="adj"/>
            </a:avLst>
          </a:prstGeom>
          <a:solidFill>
            <a:srgbClr val="F5FAF9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8366760" y="417880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9B8F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2C9B8F"/>
                </a:solidFill>
                <a:latin typeface="Arial"/>
                <a:ea typeface="Arial"/>
                <a:cs typeface="Arial"/>
                <a:sym typeface="Arial"/>
              </a:rPr>
              <a:t>108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8458200" y="4489704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monthly rows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9829800" y="4069080"/>
            <a:ext cx="1280160" cy="822960"/>
          </a:xfrm>
          <a:prstGeom prst="roundRect">
            <a:avLst>
              <a:gd fmla="val 8889" name="adj"/>
            </a:avLst>
          </a:prstGeom>
          <a:solidFill>
            <a:srgbClr val="FFF8EC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9829800" y="417880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9B2B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D89B2B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9921240" y="4489704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raw missing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6903720" y="5193792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20"/>
              <a:buFont typeface="Arial"/>
              <a:buNone/>
            </a:pPr>
            <a:r>
              <a:rPr lang="en-US" sz="132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Midterm focus: clean and align the dataset before forecasting.</a:t>
            </a: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"/>
          <p:cNvSpPr txBox="1"/>
          <p:nvPr>
            <p:ph idx="4294967295" type="sldNum"/>
          </p:nvPr>
        </p:nvSpPr>
        <p:spPr>
          <a:xfrm>
            <a:off x="11539728" y="6455664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50">
              <a:solidFill>
                <a:srgbClr val="7A80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"/>
          <p:cNvSpPr/>
          <p:nvPr/>
        </p:nvSpPr>
        <p:spPr>
          <a:xfrm>
            <a:off x="566928" y="530352"/>
            <a:ext cx="8138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D274D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40080" y="1417320"/>
            <a:ext cx="5806440" cy="4663440"/>
          </a:xfrm>
          <a:prstGeom prst="roundRect">
            <a:avLst>
              <a:gd fmla="val 1569" name="adj"/>
            </a:avLst>
          </a:prstGeom>
          <a:solidFill>
            <a:srgbClr val="FFFFFF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896112" y="1737360"/>
            <a:ext cx="4846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D274D"/>
                </a:solidFill>
                <a:latin typeface="Arial"/>
                <a:ea typeface="Arial"/>
                <a:cs typeface="Arial"/>
                <a:sym typeface="Arial"/>
              </a:rPr>
              <a:t>Financial markets and the global economy are deeply interconnected.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896112" y="2331720"/>
            <a:ext cx="4892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Key indicators such as GDP growth, inflation rates, interest rates, and stock market performance influence one another in complex ways.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896112" y="3200400"/>
            <a:ext cx="14275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274D"/>
                </a:solidFill>
                <a:latin typeface="Arial"/>
                <a:ea typeface="Arial"/>
                <a:cs typeface="Arial"/>
                <a:sym typeface="Arial"/>
              </a:rPr>
              <a:t>Challenge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896112" y="3566160"/>
            <a:ext cx="4892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Understanding these relationships is difficult, but essential for policy, investing, and business decisions.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896112" y="437083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274D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896112" y="4681728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Use data analysis and modeling to uncover patterns and support better decision-making.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693408" y="1417320"/>
            <a:ext cx="4828032" cy="4663440"/>
          </a:xfrm>
          <a:prstGeom prst="roundRect">
            <a:avLst>
              <a:gd fmla="val 1569" name="adj"/>
            </a:avLst>
          </a:prstGeom>
          <a:solidFill>
            <a:srgbClr val="F9FBFE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6995160" y="173736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D274D"/>
                </a:solidFill>
                <a:latin typeface="Arial"/>
                <a:ea typeface="Arial"/>
                <a:cs typeface="Arial"/>
                <a:sym typeface="Arial"/>
              </a:rPr>
              <a:t>Who benefits?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967728" y="2148840"/>
            <a:ext cx="4251960" cy="868680"/>
          </a:xfrm>
          <a:prstGeom prst="roundRect">
            <a:avLst>
              <a:gd fmla="val 8421" name="adj"/>
            </a:avLst>
          </a:prstGeom>
          <a:solidFill>
            <a:srgbClr val="EEF4FB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7242048" y="2395728"/>
            <a:ext cx="1325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70B8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3A70B8"/>
                </a:solidFill>
                <a:latin typeface="Arial"/>
                <a:ea typeface="Arial"/>
                <a:cs typeface="Arial"/>
                <a:sym typeface="Arial"/>
              </a:rPr>
              <a:t>Policymakers</a:t>
            </a:r>
            <a:endParaRPr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8613648" y="2340864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80"/>
              <a:buFont typeface="Arial"/>
              <a:buNone/>
            </a:pPr>
            <a:r>
              <a:rPr lang="en-US" sz="128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Monitor inflation, growth, and rate conditions.</a:t>
            </a:r>
            <a:endParaRPr sz="12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6967728" y="3182112"/>
            <a:ext cx="4251960" cy="868680"/>
          </a:xfrm>
          <a:prstGeom prst="roundRect">
            <a:avLst>
              <a:gd fmla="val 8421" name="adj"/>
            </a:avLst>
          </a:prstGeom>
          <a:solidFill>
            <a:srgbClr val="F5FAF9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7242048" y="3429000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9B8F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2C9B8F"/>
                </a:solidFill>
                <a:latin typeface="Arial"/>
                <a:ea typeface="Arial"/>
                <a:cs typeface="Arial"/>
                <a:sym typeface="Arial"/>
              </a:rPr>
              <a:t>Investors</a:t>
            </a:r>
            <a:endParaRPr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8549640" y="3364992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40"/>
              <a:buFont typeface="Arial"/>
              <a:buNone/>
            </a:pPr>
            <a:r>
              <a:rPr lang="en-US" sz="124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Track cycles, volatility, and market timing signals.</a:t>
            </a:r>
            <a:endParaRPr sz="12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6967728" y="4215384"/>
            <a:ext cx="4251960" cy="868680"/>
          </a:xfrm>
          <a:prstGeom prst="roundRect">
            <a:avLst>
              <a:gd fmla="val 8421" name="adj"/>
            </a:avLst>
          </a:prstGeom>
          <a:solidFill>
            <a:srgbClr val="FFF8EC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7242048" y="4462272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9B2B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D89B2B"/>
                </a:solidFill>
                <a:latin typeface="Arial"/>
                <a:ea typeface="Arial"/>
                <a:cs typeface="Arial"/>
                <a:sym typeface="Arial"/>
              </a:rPr>
              <a:t>Businesses</a:t>
            </a:r>
            <a:endParaRPr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8641080" y="4407408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40"/>
              <a:buFont typeface="Arial"/>
              <a:buNone/>
            </a:pPr>
            <a:r>
              <a:rPr lang="en-US" sz="124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Plan pricing, production, and financing decisions.</a:t>
            </a:r>
            <a:endParaRPr sz="12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 txBox="1"/>
          <p:nvPr>
            <p:ph idx="4294967295" type="sldNum"/>
          </p:nvPr>
        </p:nvSpPr>
        <p:spPr>
          <a:xfrm>
            <a:off x="11539728" y="6455664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50">
              <a:solidFill>
                <a:srgbClr val="7A80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/>
          <p:nvPr/>
        </p:nvSpPr>
        <p:spPr>
          <a:xfrm>
            <a:off x="566928" y="530352"/>
            <a:ext cx="8138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D274D"/>
                </a:solidFill>
                <a:latin typeface="Arial"/>
                <a:ea typeface="Arial"/>
                <a:cs typeface="Arial"/>
                <a:sym typeface="Arial"/>
              </a:rPr>
              <a:t>Project Objectives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713232" y="1508760"/>
            <a:ext cx="10972800" cy="4526280"/>
          </a:xfrm>
          <a:prstGeom prst="roundRect">
            <a:avLst>
              <a:gd fmla="val 1616" name="adj"/>
            </a:avLst>
          </a:prstGeom>
          <a:solidFill>
            <a:srgbClr val="FFFFFF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960120" y="1828800"/>
            <a:ext cx="420624" cy="420624"/>
          </a:xfrm>
          <a:prstGeom prst="ellipse">
            <a:avLst/>
          </a:prstGeom>
          <a:solidFill>
            <a:srgbClr val="EEF4FB"/>
          </a:solidFill>
          <a:ln cap="flat" cmpd="sng" w="12700">
            <a:solidFill>
              <a:srgbClr val="EEF4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960120" y="1901952"/>
            <a:ext cx="4206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70B8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A70B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572768" y="1856232"/>
            <a:ext cx="9326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Analyze economic and financial data from 2000–2008.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960120" y="2560320"/>
            <a:ext cx="420624" cy="420624"/>
          </a:xfrm>
          <a:prstGeom prst="ellipse">
            <a:avLst/>
          </a:prstGeom>
          <a:solidFill>
            <a:srgbClr val="EEF4FB"/>
          </a:solidFill>
          <a:ln cap="flat" cmpd="sng" w="12700">
            <a:solidFill>
              <a:srgbClr val="EEF4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960120" y="2633472"/>
            <a:ext cx="4206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70B8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A70B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1572768" y="2587752"/>
            <a:ext cx="9326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Identify trends and correlations between indicators.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960120" y="3291840"/>
            <a:ext cx="420624" cy="420624"/>
          </a:xfrm>
          <a:prstGeom prst="ellipse">
            <a:avLst/>
          </a:prstGeom>
          <a:solidFill>
            <a:srgbClr val="EEF4FB"/>
          </a:solidFill>
          <a:ln cap="flat" cmpd="sng" w="12700">
            <a:solidFill>
              <a:srgbClr val="EEF4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60120" y="3364992"/>
            <a:ext cx="4206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70B8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A70B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572768" y="3319272"/>
            <a:ext cx="9326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Detect anomalies and irregular patterns.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960120" y="4023360"/>
            <a:ext cx="420624" cy="420624"/>
          </a:xfrm>
          <a:prstGeom prst="ellipse">
            <a:avLst/>
          </a:prstGeom>
          <a:solidFill>
            <a:srgbClr val="F5FAF9"/>
          </a:solidFill>
          <a:ln cap="flat" cmpd="sng" w="12700">
            <a:solidFill>
              <a:srgbClr val="F5F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960120" y="4096512"/>
            <a:ext cx="4206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9B8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2C9B8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1572768" y="4050792"/>
            <a:ext cx="9326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Prepare the dataset for predictive modeling.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960120" y="4754880"/>
            <a:ext cx="420624" cy="420624"/>
          </a:xfrm>
          <a:prstGeom prst="ellipse">
            <a:avLst/>
          </a:prstGeom>
          <a:solidFill>
            <a:srgbClr val="F5FAF9"/>
          </a:solidFill>
          <a:ln cap="flat" cmpd="sng" w="12700">
            <a:solidFill>
              <a:srgbClr val="F5F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960120" y="4828032"/>
            <a:ext cx="4206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9B8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2C9B8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1572768" y="4782312"/>
            <a:ext cx="9326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Build a foundation for time-series forecasting.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389120" y="5623560"/>
            <a:ext cx="3383280" cy="347472"/>
          </a:xfrm>
          <a:prstGeom prst="rect">
            <a:avLst/>
          </a:prstGeom>
          <a:solidFill>
            <a:srgbClr val="0D274D"/>
          </a:solidFill>
          <a:ln cap="flat" cmpd="sng" w="9525">
            <a:solidFill>
              <a:srgbClr val="0D2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Goal: move from raw files to forecasting-ready data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 txBox="1"/>
          <p:nvPr>
            <p:ph idx="4294967295" type="sldNum"/>
          </p:nvPr>
        </p:nvSpPr>
        <p:spPr>
          <a:xfrm>
            <a:off x="11539728" y="6455664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50">
              <a:solidFill>
                <a:srgbClr val="7A80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"/>
          <p:cNvSpPr/>
          <p:nvPr/>
        </p:nvSpPr>
        <p:spPr>
          <a:xfrm>
            <a:off x="566928" y="530352"/>
            <a:ext cx="8138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D274D"/>
                </a:solidFill>
                <a:latin typeface="Arial"/>
                <a:ea typeface="Arial"/>
                <a:cs typeface="Arial"/>
                <a:sym typeface="Arial"/>
              </a:rPr>
              <a:t>Dataset Overview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657292" y="1417320"/>
            <a:ext cx="4846320" cy="4663440"/>
          </a:xfrm>
          <a:prstGeom prst="roundRect">
            <a:avLst>
              <a:gd fmla="val 1569" name="adj"/>
            </a:avLst>
          </a:prstGeom>
          <a:solidFill>
            <a:srgbClr val="FFFFFF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932687" y="1499616"/>
            <a:ext cx="1412479" cy="476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274D"/>
                </a:solidFill>
                <a:latin typeface="Arial"/>
                <a:ea typeface="Arial"/>
                <a:cs typeface="Arial"/>
                <a:sym typeface="Arial"/>
              </a:rPr>
              <a:t>Dataset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981994" y="1985323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20"/>
              <a:buFont typeface="Arial"/>
              <a:buNone/>
            </a:pPr>
            <a:r>
              <a:rPr lang="en-US" sz="162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Finance &amp; Economics Time-Series Dataset</a:t>
            </a:r>
            <a:endParaRPr sz="16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932687" y="2377440"/>
            <a:ext cx="1907331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274D"/>
                </a:solidFill>
                <a:latin typeface="Arial"/>
                <a:ea typeface="Arial"/>
                <a:cs typeface="Arial"/>
                <a:sym typeface="Arial"/>
              </a:rPr>
              <a:t>Time Period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1011218" y="2671123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20"/>
              <a:buFont typeface="Arial"/>
              <a:buNone/>
            </a:pPr>
            <a:r>
              <a:rPr lang="en-US" sz="162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2000 – 2008</a:t>
            </a:r>
            <a:endParaRPr sz="16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932688" y="3063240"/>
            <a:ext cx="420624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Arial"/>
              <a:buChar char="•"/>
            </a:pPr>
            <a:r>
              <a:rPr lang="en-US" sz="15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GDP (kept separately as quarterly)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Arial"/>
              <a:buChar char="•"/>
            </a:pPr>
            <a:r>
              <a:rPr lang="en-US" sz="15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Inflation proxy: CPI and Inflation_YoY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Arial"/>
              <a:buChar char="•"/>
            </a:pPr>
            <a:r>
              <a:rPr lang="en-US" sz="15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Interest rates: FEDFUNDS and GS10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Arial"/>
              <a:buChar char="•"/>
            </a:pPr>
            <a:r>
              <a:rPr lang="en-US" sz="15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Economic indicators: UNRATE, INDPRO, WTI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Arial"/>
              <a:buChar char="•"/>
            </a:pPr>
            <a:r>
              <a:rPr lang="en-US" sz="15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Stock market index can be added later as an extension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932688" y="530352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274D"/>
                </a:solidFill>
                <a:latin typeface="Arial"/>
                <a:ea typeface="Arial"/>
                <a:cs typeface="Arial"/>
                <a:sym typeface="Arial"/>
              </a:rPr>
              <a:t>Data Type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1874520" y="5303520"/>
            <a:ext cx="3383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Arial"/>
              <a:buNone/>
            </a:pPr>
            <a:r>
              <a:rPr lang="en-US" sz="15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Time-series data collected at regular intervals.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5806440" y="1417320"/>
            <a:ext cx="5669280" cy="4663440"/>
          </a:xfrm>
          <a:prstGeom prst="roundRect">
            <a:avLst>
              <a:gd fmla="val 1569" name="adj"/>
            </a:avLst>
          </a:prstGeom>
          <a:solidFill>
            <a:srgbClr val="F9FBFE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finance_midterm_assets/audit_table.png" id="104" name="Google Shape;10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5040" y="1976179"/>
            <a:ext cx="5166360" cy="16163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finance_midterm_assets/selected_summary_table.png" id="105" name="Google Shape;10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35040" y="4026526"/>
            <a:ext cx="5166360" cy="158472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 txBox="1"/>
          <p:nvPr>
            <p:ph idx="4294967295" type="sldNum"/>
          </p:nvPr>
        </p:nvSpPr>
        <p:spPr>
          <a:xfrm>
            <a:off x="11539728" y="6455664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50">
              <a:solidFill>
                <a:srgbClr val="7A80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/>
          <p:nvPr/>
        </p:nvSpPr>
        <p:spPr>
          <a:xfrm>
            <a:off x="566928" y="530352"/>
            <a:ext cx="8138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D274D"/>
                </a:solidFill>
                <a:latin typeface="Arial"/>
                <a:ea typeface="Arial"/>
                <a:cs typeface="Arial"/>
                <a:sym typeface="Arial"/>
              </a:rPr>
              <a:t>Task 1: Dataset Exploration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658368" y="1417320"/>
            <a:ext cx="3703320" cy="4663440"/>
          </a:xfrm>
          <a:prstGeom prst="roundRect">
            <a:avLst>
              <a:gd fmla="val 1975" name="adj"/>
            </a:avLst>
          </a:prstGeom>
          <a:solidFill>
            <a:srgbClr val="FFFFFF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914400" y="1755648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0D274D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914400" y="2057400"/>
            <a:ext cx="30632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Understand the structure and characteristics of the dataset before modeling.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914400" y="2743200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0D274D"/>
                </a:solidFill>
                <a:latin typeface="Arial"/>
                <a:ea typeface="Arial"/>
                <a:cs typeface="Arial"/>
                <a:sym typeface="Arial"/>
              </a:rPr>
              <a:t>Steps Performed</a:t>
            </a:r>
            <a:endParaRPr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914400" y="3035808"/>
            <a:ext cx="29718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30"/>
              <a:buFont typeface="Arial"/>
              <a:buChar char="•"/>
            </a:pPr>
            <a:r>
              <a:rPr lang="en-US" sz="153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Examined dataset shape and dimensions.</a:t>
            </a:r>
            <a:endParaRPr sz="15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30"/>
              <a:buFont typeface="Arial"/>
              <a:buChar char="•"/>
            </a:pPr>
            <a:r>
              <a:rPr lang="en-US" sz="153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Identified time range and frequency.</a:t>
            </a:r>
            <a:endParaRPr sz="15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30"/>
              <a:buFont typeface="Arial"/>
              <a:buChar char="•"/>
            </a:pPr>
            <a:r>
              <a:rPr lang="en-US" sz="153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Reviewed key variables.</a:t>
            </a:r>
            <a:endParaRPr sz="15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30"/>
              <a:buFont typeface="Arial"/>
              <a:buChar char="•"/>
            </a:pPr>
            <a:r>
              <a:rPr lang="en-US" sz="153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Generated summary statistics.</a:t>
            </a:r>
            <a:endParaRPr sz="15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30"/>
              <a:buFont typeface="Arial"/>
              <a:buChar char="•"/>
            </a:pPr>
            <a:r>
              <a:rPr lang="en-US" sz="153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Visualized trends using time-series plots.</a:t>
            </a:r>
            <a:endParaRPr sz="15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914400" y="5212080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0D274D"/>
                </a:solidFill>
                <a:latin typeface="Arial"/>
                <a:ea typeface="Arial"/>
                <a:cs typeface="Arial"/>
                <a:sym typeface="Arial"/>
              </a:rPr>
              <a:t>Why This Matters</a:t>
            </a:r>
            <a:endParaRPr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914400" y="5513832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Arial"/>
              <a:buNone/>
            </a:pPr>
            <a:r>
              <a:rPr lang="en-US" sz="15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Good analysis starts with understanding the data.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4617720" y="1417320"/>
            <a:ext cx="6876288" cy="4663440"/>
          </a:xfrm>
          <a:prstGeom prst="roundRect">
            <a:avLst>
              <a:gd fmla="val 1569" name="adj"/>
            </a:avLst>
          </a:prstGeom>
          <a:solidFill>
            <a:srgbClr val="FFFFFF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finance_midterm_assets/exploration_panel.png" id="121" name="Google Shape;12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2040" y="2226141"/>
            <a:ext cx="6327648" cy="3137237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 txBox="1"/>
          <p:nvPr>
            <p:ph idx="4294967295" type="sldNum"/>
          </p:nvPr>
        </p:nvSpPr>
        <p:spPr>
          <a:xfrm>
            <a:off x="11539728" y="6455664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50">
              <a:solidFill>
                <a:srgbClr val="7A80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/>
          <p:nvPr/>
        </p:nvSpPr>
        <p:spPr>
          <a:xfrm>
            <a:off x="566928" y="530352"/>
            <a:ext cx="8138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D274D"/>
                </a:solidFill>
                <a:latin typeface="Arial"/>
                <a:ea typeface="Arial"/>
                <a:cs typeface="Arial"/>
                <a:sym typeface="Arial"/>
              </a:rPr>
              <a:t>Identifying Data Issues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658368" y="1417320"/>
            <a:ext cx="4846320" cy="4663440"/>
          </a:xfrm>
          <a:prstGeom prst="roundRect">
            <a:avLst>
              <a:gd fmla="val 1569" name="adj"/>
            </a:avLst>
          </a:prstGeom>
          <a:solidFill>
            <a:srgbClr val="FFFFFF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914400" y="173736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274D"/>
                </a:solidFill>
                <a:latin typeface="Arial"/>
                <a:ea typeface="Arial"/>
                <a:cs typeface="Arial"/>
                <a:sym typeface="Arial"/>
              </a:rPr>
              <a:t>During exploration, we checked for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914400" y="2057400"/>
            <a:ext cx="32461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Missing values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Outliers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Inconsistent data entries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Sudden spikes or drops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Data gaps in time periods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914400" y="4572000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274D"/>
                </a:solidFill>
                <a:latin typeface="Arial"/>
                <a:ea typeface="Arial"/>
                <a:cs typeface="Arial"/>
                <a:sym typeface="Arial"/>
              </a:rPr>
              <a:t>Common Causes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914400" y="4864608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40"/>
              <a:buFont typeface="Arial"/>
              <a:buChar char="•"/>
            </a:pPr>
            <a:r>
              <a:rPr lang="en-US" sz="144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Reporting delays</a:t>
            </a:r>
            <a:endParaRPr sz="14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40"/>
              <a:buFont typeface="Arial"/>
              <a:buChar char="•"/>
            </a:pPr>
            <a:r>
              <a:rPr lang="en-US" sz="144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Measurement errors</a:t>
            </a:r>
            <a:endParaRPr sz="14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40"/>
              <a:buFont typeface="Arial"/>
              <a:buChar char="•"/>
            </a:pPr>
            <a:r>
              <a:rPr lang="en-US" sz="144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System failures</a:t>
            </a:r>
            <a:endParaRPr sz="14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40"/>
              <a:buFont typeface="Arial"/>
              <a:buChar char="•"/>
            </a:pPr>
            <a:r>
              <a:rPr lang="en-US" sz="144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Market disruptions</a:t>
            </a:r>
            <a:endParaRPr sz="14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5806440" y="1417320"/>
            <a:ext cx="5669280" cy="4663440"/>
          </a:xfrm>
          <a:prstGeom prst="roundRect">
            <a:avLst>
              <a:gd fmla="val 1569" name="adj"/>
            </a:avLst>
          </a:prstGeom>
          <a:solidFill>
            <a:srgbClr val="F9FBFE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6108192" y="1737360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274D"/>
                </a:solidFill>
                <a:latin typeface="Arial"/>
                <a:ea typeface="Arial"/>
                <a:cs typeface="Arial"/>
                <a:sym typeface="Arial"/>
              </a:rPr>
              <a:t>Actual finding in this notebook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finance_midterm_assets/missing_table.png" id="136" name="Google Shape;13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6480" y="2323906"/>
            <a:ext cx="4983480" cy="179870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6"/>
          <p:cNvSpPr/>
          <p:nvPr/>
        </p:nvSpPr>
        <p:spPr>
          <a:xfrm>
            <a:off x="6172200" y="4709160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Arial"/>
              <a:buNone/>
            </a:pPr>
            <a:r>
              <a:rPr lang="en-US" sz="15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Result: the six monthly FRED series had 0 raw missing values after filtering to 2000–2008 and merging by month.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6172200" y="5285232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20"/>
              <a:buFont typeface="Arial"/>
              <a:buNone/>
            </a:pPr>
            <a:r>
              <a:rPr lang="en-US" sz="142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Main issue to manage later: GDP is quarterly, so it does not align naturally with the monthly table.</a:t>
            </a:r>
            <a:endParaRPr sz="14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 txBox="1"/>
          <p:nvPr>
            <p:ph idx="4294967295" type="sldNum"/>
          </p:nvPr>
        </p:nvSpPr>
        <p:spPr>
          <a:xfrm>
            <a:off x="11539728" y="6455664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50">
              <a:solidFill>
                <a:srgbClr val="7A80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/>
          <p:nvPr/>
        </p:nvSpPr>
        <p:spPr>
          <a:xfrm>
            <a:off x="566928" y="530352"/>
            <a:ext cx="8138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D274D"/>
                </a:solidFill>
                <a:latin typeface="Arial"/>
                <a:ea typeface="Arial"/>
                <a:cs typeface="Arial"/>
                <a:sym typeface="Arial"/>
              </a:rPr>
              <a:t>Task 2: Data Cleaning &amp; Preprocessing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731520" y="1463040"/>
            <a:ext cx="10972800" cy="4526280"/>
          </a:xfrm>
          <a:prstGeom prst="roundRect">
            <a:avLst>
              <a:gd fmla="val 1616" name="adj"/>
            </a:avLst>
          </a:prstGeom>
          <a:solidFill>
            <a:srgbClr val="FFFFFF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987552" y="178308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274D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1901952" y="1783080"/>
            <a:ext cx="3520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Prepare the dataset for accurate analysis and modeling.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1005840" y="2743200"/>
            <a:ext cx="1783080" cy="2057400"/>
          </a:xfrm>
          <a:prstGeom prst="roundRect">
            <a:avLst>
              <a:gd fmla="val 4103" name="adj"/>
            </a:avLst>
          </a:prstGeom>
          <a:solidFill>
            <a:srgbClr val="EEF4FB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1005840" y="2907792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70B8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3A70B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1143000" y="3364992"/>
            <a:ext cx="1508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10"/>
              <a:buFont typeface="Arial"/>
              <a:buNone/>
            </a:pPr>
            <a:r>
              <a:rPr lang="en-US" sz="141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Handling missing values</a:t>
            </a:r>
            <a:endParaRPr sz="141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3063240" y="2743200"/>
            <a:ext cx="1783080" cy="2057400"/>
          </a:xfrm>
          <a:prstGeom prst="roundRect">
            <a:avLst>
              <a:gd fmla="val 4103" name="adj"/>
            </a:avLst>
          </a:prstGeom>
          <a:solidFill>
            <a:srgbClr val="F5FAF9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3063240" y="2907792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9B8F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2C9B8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3200400" y="3364992"/>
            <a:ext cx="1508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10"/>
              <a:buFont typeface="Arial"/>
              <a:buNone/>
            </a:pPr>
            <a:r>
              <a:rPr lang="en-US" sz="141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Fixing inconsistent records</a:t>
            </a:r>
            <a:endParaRPr sz="141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5120640" y="2743200"/>
            <a:ext cx="1783080" cy="2057400"/>
          </a:xfrm>
          <a:prstGeom prst="roundRect">
            <a:avLst>
              <a:gd fmla="val 4103" name="adj"/>
            </a:avLst>
          </a:prstGeom>
          <a:solidFill>
            <a:srgbClr val="EEF4FB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5120640" y="2907792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70B8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3A70B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5257800" y="3364992"/>
            <a:ext cx="1508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10"/>
              <a:buFont typeface="Arial"/>
              <a:buNone/>
            </a:pPr>
            <a:r>
              <a:rPr lang="en-US" sz="141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Standardizing data formats</a:t>
            </a:r>
            <a:endParaRPr sz="141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7178040" y="2743200"/>
            <a:ext cx="1783080" cy="2057400"/>
          </a:xfrm>
          <a:prstGeom prst="roundRect">
            <a:avLst>
              <a:gd fmla="val 4103" name="adj"/>
            </a:avLst>
          </a:prstGeom>
          <a:solidFill>
            <a:srgbClr val="FFF8EC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7178040" y="2907792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9B2B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D89B2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7315200" y="3364992"/>
            <a:ext cx="1508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10"/>
              <a:buFont typeface="Arial"/>
              <a:buNone/>
            </a:pPr>
            <a:r>
              <a:rPr lang="en-US" sz="141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Aligning time intervals</a:t>
            </a:r>
            <a:endParaRPr sz="141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9235440" y="2743200"/>
            <a:ext cx="1783080" cy="2057400"/>
          </a:xfrm>
          <a:prstGeom prst="roundRect">
            <a:avLst>
              <a:gd fmla="val 4103" name="adj"/>
            </a:avLst>
          </a:prstGeom>
          <a:solidFill>
            <a:srgbClr val="EEF4FB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9235440" y="2907792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70B8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3A70B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9372600" y="3364992"/>
            <a:ext cx="1508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10"/>
              <a:buFont typeface="Arial"/>
              <a:buNone/>
            </a:pPr>
            <a:r>
              <a:rPr lang="en-US" sz="141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Ensuring data quality</a:t>
            </a:r>
            <a:endParaRPr sz="141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3931920" y="5532120"/>
            <a:ext cx="4297680" cy="347472"/>
          </a:xfrm>
          <a:prstGeom prst="rect">
            <a:avLst/>
          </a:prstGeom>
          <a:solidFill>
            <a:srgbClr val="0D274D"/>
          </a:solidFill>
          <a:ln cap="flat" cmpd="sng" w="9525">
            <a:solidFill>
              <a:srgbClr val="0D2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Notebook output saved as finance_econ_cleaned_2000_2008.csv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 txBox="1"/>
          <p:nvPr>
            <p:ph idx="4294967295" type="sldNum"/>
          </p:nvPr>
        </p:nvSpPr>
        <p:spPr>
          <a:xfrm>
            <a:off x="11539728" y="6455664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50">
              <a:solidFill>
                <a:srgbClr val="7A80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/>
          <p:nvPr/>
        </p:nvSpPr>
        <p:spPr>
          <a:xfrm>
            <a:off x="566928" y="530352"/>
            <a:ext cx="8138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D274D"/>
                </a:solidFill>
                <a:latin typeface="Arial"/>
                <a:ea typeface="Arial"/>
                <a:cs typeface="Arial"/>
                <a:sym typeface="Arial"/>
              </a:rPr>
              <a:t>Handling Missing Data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658368" y="1417320"/>
            <a:ext cx="4754880" cy="4663440"/>
          </a:xfrm>
          <a:prstGeom prst="roundRect">
            <a:avLst>
              <a:gd fmla="val 1569" name="adj"/>
            </a:avLst>
          </a:prstGeom>
          <a:solidFill>
            <a:srgbClr val="FFFFFF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914400" y="175564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274D"/>
                </a:solidFill>
                <a:latin typeface="Arial"/>
                <a:ea typeface="Arial"/>
                <a:cs typeface="Arial"/>
                <a:sym typeface="Arial"/>
              </a:rPr>
              <a:t>Methods Used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914400" y="2126772"/>
            <a:ext cx="25603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Interpolation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Forward Fill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Backward Fill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Data transformation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914400" y="3657600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274D"/>
                </a:solidFill>
                <a:latin typeface="Arial"/>
                <a:ea typeface="Arial"/>
                <a:cs typeface="Arial"/>
                <a:sym typeface="Arial"/>
              </a:rPr>
              <a:t>Why This Matters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914400" y="4159728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60"/>
              <a:buFont typeface="Arial"/>
              <a:buNone/>
            </a:pPr>
            <a:r>
              <a:rPr lang="en-US" sz="136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Missing data can distort trends, reduce model accuracy, and lead to incorrect conclusions.</a:t>
            </a:r>
            <a:endParaRPr sz="13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5715000" y="1417320"/>
            <a:ext cx="5760720" cy="4663440"/>
          </a:xfrm>
          <a:prstGeom prst="roundRect">
            <a:avLst>
              <a:gd fmla="val 1569" name="adj"/>
            </a:avLst>
          </a:prstGeom>
          <a:solidFill>
            <a:srgbClr val="F9FBFE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6035040" y="1755648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274D"/>
                </a:solidFill>
                <a:latin typeface="Arial"/>
                <a:ea typeface="Arial"/>
                <a:cs typeface="Arial"/>
                <a:sym typeface="Arial"/>
              </a:rPr>
              <a:t>Actual result in the notebook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finance_midterm_assets/missing_table.png" id="179" name="Google Shape;17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3328" y="2214178"/>
            <a:ext cx="4983480" cy="1798708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8"/>
          <p:cNvSpPr/>
          <p:nvPr/>
        </p:nvSpPr>
        <p:spPr>
          <a:xfrm>
            <a:off x="6053328" y="4434840"/>
            <a:ext cx="47548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20"/>
              <a:buFont typeface="Arial"/>
              <a:buChar char="•"/>
            </a:pPr>
            <a:r>
              <a:rPr lang="en-US" sz="142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For the six monthly series, the raw merged dataset had no missing values in 2000–2008.</a:t>
            </a:r>
            <a:endParaRPr sz="14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20"/>
              <a:buFont typeface="Arial"/>
              <a:buChar char="•"/>
            </a:pPr>
            <a:r>
              <a:rPr lang="en-US" sz="142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The fill methods remain in the code as a safeguard for future extensions.</a:t>
            </a:r>
            <a:endParaRPr sz="14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20"/>
              <a:buFont typeface="Arial"/>
              <a:buChar char="•"/>
            </a:pPr>
            <a:r>
              <a:rPr lang="en-US" sz="142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The main expected NaN values come from year-over-year transformations in the first 12 months.</a:t>
            </a:r>
            <a:endParaRPr sz="14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8"/>
          <p:cNvSpPr txBox="1"/>
          <p:nvPr>
            <p:ph idx="4294967295" type="sldNum"/>
          </p:nvPr>
        </p:nvSpPr>
        <p:spPr>
          <a:xfrm>
            <a:off x="11539728" y="6455664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50">
              <a:solidFill>
                <a:srgbClr val="7A80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"/>
          <p:cNvSpPr/>
          <p:nvPr/>
        </p:nvSpPr>
        <p:spPr>
          <a:xfrm>
            <a:off x="566928" y="530352"/>
            <a:ext cx="8138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D274D"/>
                </a:solidFill>
                <a:latin typeface="Arial"/>
                <a:ea typeface="Arial"/>
                <a:cs typeface="Arial"/>
                <a:sym typeface="Arial"/>
              </a:rPr>
              <a:t>Time Index Alignment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658368" y="1417320"/>
            <a:ext cx="4572000" cy="4663440"/>
          </a:xfrm>
          <a:prstGeom prst="roundRect">
            <a:avLst>
              <a:gd fmla="val 1600" name="adj"/>
            </a:avLst>
          </a:prstGeom>
          <a:solidFill>
            <a:srgbClr val="FFFFFF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914400" y="1783080"/>
            <a:ext cx="3749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Financial and economic data often come in different frequencies.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914400" y="256032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0D274D"/>
                </a:solidFill>
                <a:latin typeface="Arial"/>
                <a:ea typeface="Arial"/>
                <a:cs typeface="Arial"/>
                <a:sym typeface="Arial"/>
              </a:rPr>
              <a:t>Examples</a:t>
            </a:r>
            <a:endParaRPr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914400" y="2880360"/>
            <a:ext cx="2651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Stock prices → Daily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Inflation → Monthly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GDP → Quarterly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914400" y="416052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0D274D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914400" y="4480560"/>
            <a:ext cx="3840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Arial"/>
              <a:buNone/>
            </a:pPr>
            <a:r>
              <a:rPr lang="en-US" sz="15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We aligned the current core indicators to a common monthly frequency and kept GDP separate for later quarterly analysis.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5532120" y="1417320"/>
            <a:ext cx="5943600" cy="4663440"/>
          </a:xfrm>
          <a:prstGeom prst="roundRect">
            <a:avLst>
              <a:gd fmla="val 1569" name="adj"/>
            </a:avLst>
          </a:prstGeom>
          <a:solidFill>
            <a:srgbClr val="FFFFFF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finance_midterm_assets/frequency_alignment.png" id="195" name="Google Shape;19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6440" y="2206444"/>
            <a:ext cx="5303520" cy="936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9"/>
          <p:cNvSpPr/>
          <p:nvPr/>
        </p:nvSpPr>
        <p:spPr>
          <a:xfrm>
            <a:off x="5833872" y="385876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0D274D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5833872" y="4187952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Consistent dataset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Easier comparison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Reliable modeling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8549640" y="4224528"/>
            <a:ext cx="2377440" cy="329184"/>
          </a:xfrm>
          <a:prstGeom prst="rect">
            <a:avLst/>
          </a:prstGeom>
          <a:solidFill>
            <a:srgbClr val="2C9B8F"/>
          </a:solidFill>
          <a:ln cap="flat" cmpd="sng" w="9525">
            <a:solidFill>
              <a:srgbClr val="2C9B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108 monthly observations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9"/>
          <p:cNvSpPr txBox="1"/>
          <p:nvPr>
            <p:ph idx="4294967295" type="sldNum"/>
          </p:nvPr>
        </p:nvSpPr>
        <p:spPr>
          <a:xfrm>
            <a:off x="11539728" y="6455664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50">
              <a:solidFill>
                <a:srgbClr val="7A80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"/>
          <p:cNvSpPr/>
          <p:nvPr/>
        </p:nvSpPr>
        <p:spPr>
          <a:xfrm>
            <a:off x="566928" y="530352"/>
            <a:ext cx="8138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D274D"/>
                </a:solidFill>
                <a:latin typeface="Arial"/>
                <a:ea typeface="Arial"/>
                <a:cs typeface="Arial"/>
                <a:sym typeface="Arial"/>
              </a:rPr>
              <a:t>Key Takeaways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658368" y="1417320"/>
            <a:ext cx="5486400" cy="4663440"/>
          </a:xfrm>
          <a:prstGeom prst="roundRect">
            <a:avLst>
              <a:gd fmla="val 1569" name="adj"/>
            </a:avLst>
          </a:prstGeom>
          <a:solidFill>
            <a:srgbClr val="FFFFFF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914400" y="1920240"/>
            <a:ext cx="45720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Financial and economic indicators are interconnected.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Data quality is critical for reliable analysis.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Time-series preprocessing improves model performance.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Clean data enables better forecasting.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914400" y="4527400"/>
            <a:ext cx="1705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274D"/>
                </a:solidFill>
                <a:latin typeface="Arial"/>
                <a:ea typeface="Arial"/>
                <a:cs typeface="Arial"/>
                <a:sym typeface="Arial"/>
              </a:rPr>
              <a:t>Next Step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914400" y="5010912"/>
            <a:ext cx="46634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Build predictive models such as ARIMA, VAR, or other forecasting approaches for the cleaned dataset.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6400800" y="1417320"/>
            <a:ext cx="5074920" cy="4663440"/>
          </a:xfrm>
          <a:prstGeom prst="roundRect">
            <a:avLst>
              <a:gd fmla="val 1569" name="adj"/>
            </a:avLst>
          </a:prstGeom>
          <a:solidFill>
            <a:srgbClr val="F9FBFE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finance_midterm_assets/corr_heatmap.png" id="211" name="Google Shape;21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84872" y="1719072"/>
            <a:ext cx="4070199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0"/>
          <p:cNvSpPr/>
          <p:nvPr/>
        </p:nvSpPr>
        <p:spPr>
          <a:xfrm>
            <a:off x="6656832" y="5394960"/>
            <a:ext cx="2651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0D274D"/>
                </a:solidFill>
                <a:latin typeface="Arial"/>
                <a:ea typeface="Arial"/>
                <a:cs typeface="Arial"/>
                <a:sym typeface="Arial"/>
              </a:rPr>
              <a:t>Preview of the final-stage direction: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6656832" y="5696147"/>
            <a:ext cx="4206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20"/>
              <a:buFont typeface="Arial"/>
              <a:buNone/>
            </a:pPr>
            <a:r>
              <a:rPr lang="en-US" sz="132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use the cleaned monthly table to test stationarity, inspect lags, and compare forecasting models.</a:t>
            </a: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0"/>
          <p:cNvSpPr txBox="1"/>
          <p:nvPr>
            <p:ph idx="4294967295" type="sldNum"/>
          </p:nvPr>
        </p:nvSpPr>
        <p:spPr>
          <a:xfrm>
            <a:off x="11539728" y="6455664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50">
              <a:solidFill>
                <a:srgbClr val="7A80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2026-03-30T16:22:00Z</dcterms:created>
  <dc:creator>OpenAI</dc:creator>
</cp:coreProperties>
</file>